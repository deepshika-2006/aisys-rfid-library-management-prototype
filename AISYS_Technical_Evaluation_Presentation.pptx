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AISYS RFID Library Management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473"/>
                </a:solidFill>
              </a:defRPr>
            </a:pPr>
            <a:r>
              <a:t>Aligned to the AISYS Software Development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Technical Evaluation Submission</a:t>
            </a:r>
          </a:p>
          <a:p>
            <a:pPr>
              <a:spcAft>
                <a:spcPts val="1200"/>
              </a:spcAft>
              <a:defRPr sz="2000"/>
            </a:pPr>
            <a:r>
              <a:t>Modular, device-neutral, offline-capable prototype</a:t>
            </a:r>
          </a:p>
          <a:p>
            <a:pPr>
              <a:spcAft>
                <a:spcPts val="1200"/>
              </a:spcAft>
              <a:defRPr sz="2000"/>
            </a:pPr>
            <a:r>
              <a:t>Candidate demonstration — synthetic data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1.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Integrate RFID-enabled workflows with an existing ILMS without modifying, deleting or corrupting existing records.</a:t>
            </a:r>
          </a:p>
          <a:p>
            <a:pPr>
              <a:spcAft>
                <a:spcPts val="1200"/>
              </a:spcAft>
              <a:defRPr sz="2000"/>
            </a:pPr>
            <a:r>
              <a:t>Support library operations, RFID workflows, migration, reporting, testing, documentation and offline maintenance.</a:t>
            </a:r>
          </a:p>
          <a:p>
            <a:pPr>
              <a:spcAft>
                <a:spcPts val="1200"/>
              </a:spcAft>
              <a:defRPr sz="2000"/>
            </a:pPr>
            <a:r>
              <a:t>Use adapter interfaces and working mocks where hardware/vendor/live services are unavailable.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2.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Web-based library operations: cataloguing, members, circulation, search and reports.</a:t>
            </a:r>
          </a:p>
          <a:p>
            <a:pPr>
              <a:spcAft>
                <a:spcPts val="1200"/>
              </a:spcAft>
              <a:defRPr sz="2000"/>
            </a:pPr>
            <a:r>
              <a:t>RFID middleware: reader, handheld, gate and smart-card mock adapters.</a:t>
            </a:r>
          </a:p>
          <a:p>
            <a:pPr>
              <a:spcAft>
                <a:spcPts val="1200"/>
              </a:spcAft>
              <a:defRPr sz="2000"/>
            </a:pPr>
            <a:r>
              <a:t>Interoperability: NCIP 2.0 / SIP2 adapter boundary.</a:t>
            </a:r>
          </a:p>
          <a:p>
            <a:pPr>
              <a:spcAft>
                <a:spcPts val="1200"/>
              </a:spcAft>
              <a:defRPr sz="2000"/>
            </a:pPr>
            <a:r>
              <a:t>Controlled spreadsheet migration with validation, duplicate handling and reconciliation.</a:t>
            </a:r>
          </a:p>
          <a:p>
            <a:pPr>
              <a:spcAft>
                <a:spcPts val="1200"/>
              </a:spcAft>
              <a:defRPr sz="2000"/>
            </a:pPr>
            <a:r>
              <a:t>Auditability, authentication, health checks and rollback-oriented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3. Layered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25880"/>
            <a:ext cx="8412480" cy="457200"/>
          </a:xfrm>
          <a:prstGeom prst="roundRect">
            <a:avLst/>
          </a:prstGeom>
          <a:solidFill>
            <a:srgbClr val="E7F0F9"/>
          </a:solidFill>
          <a:ln>
            <a:solidFill>
              <a:srgbClr val="17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User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947672"/>
            <a:ext cx="8412480" cy="457200"/>
          </a:xfrm>
          <a:prstGeom prst="roundRect">
            <a:avLst/>
          </a:prstGeom>
          <a:solidFill>
            <a:srgbClr val="E7F0F9"/>
          </a:solidFill>
          <a:ln>
            <a:solidFill>
              <a:srgbClr val="17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Application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569464"/>
            <a:ext cx="8412480" cy="457200"/>
          </a:xfrm>
          <a:prstGeom prst="roundRect">
            <a:avLst/>
          </a:prstGeom>
          <a:solidFill>
            <a:srgbClr val="E7F0F9"/>
          </a:solidFill>
          <a:ln>
            <a:solidFill>
              <a:srgbClr val="17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RFID Middleware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191256"/>
            <a:ext cx="8412480" cy="457200"/>
          </a:xfrm>
          <a:prstGeom prst="roundRect">
            <a:avLst/>
          </a:prstGeom>
          <a:solidFill>
            <a:srgbClr val="E7F0F9"/>
          </a:solidFill>
          <a:ln>
            <a:solidFill>
              <a:srgbClr val="17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Interoperability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813048"/>
            <a:ext cx="8412480" cy="457200"/>
          </a:xfrm>
          <a:prstGeom prst="roundRect">
            <a:avLst/>
          </a:prstGeom>
          <a:solidFill>
            <a:srgbClr val="E7F0F9"/>
          </a:solidFill>
          <a:ln>
            <a:solidFill>
              <a:srgbClr val="17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Data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434840"/>
            <a:ext cx="8412480" cy="457200"/>
          </a:xfrm>
          <a:prstGeom prst="roundRect">
            <a:avLst/>
          </a:prstGeom>
          <a:solidFill>
            <a:srgbClr val="E7F0F9"/>
          </a:solidFill>
          <a:ln>
            <a:solidFill>
              <a:srgbClr val="17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Integration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056632"/>
            <a:ext cx="8412480" cy="457200"/>
          </a:xfrm>
          <a:prstGeom prst="roundRect">
            <a:avLst/>
          </a:prstGeom>
          <a:solidFill>
            <a:srgbClr val="E7F0F9"/>
          </a:solidFill>
          <a:ln>
            <a:solidFill>
              <a:srgbClr val="17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Operations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4. 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Book: accession, ISBN, title, author, category, location, status, RFID tag.</a:t>
            </a:r>
          </a:p>
          <a:p>
            <a:pPr>
              <a:spcAft>
                <a:spcPts val="1200"/>
              </a:spcAft>
              <a:defRPr sz="2000"/>
            </a:pPr>
            <a:r>
              <a:t>Member: card number, name, block state, fine amount and role.</a:t>
            </a:r>
          </a:p>
          <a:p>
            <a:pPr>
              <a:spcAft>
                <a:spcPts val="1200"/>
              </a:spcAft>
              <a:defRPr sz="2000"/>
            </a:pPr>
            <a:r>
              <a:t>Circulation: checkout/renew/check-in, due date and operator.</a:t>
            </a:r>
          </a:p>
          <a:p>
            <a:pPr>
              <a:spcAft>
                <a:spcPts val="1200"/>
              </a:spcAft>
              <a:defRPr sz="2000"/>
            </a:pPr>
            <a:r>
              <a:t>RFIDEvent: device-neutral event type, tag, accession and payload.</a:t>
            </a:r>
          </a:p>
          <a:p>
            <a:pPr>
              <a:spcAft>
                <a:spcPts val="1200"/>
              </a:spcAft>
              <a:defRPr sz="2000"/>
            </a:pPr>
            <a:r>
              <a:t>AuditLog: actor, action, entity, details and timestamp.</a:t>
            </a:r>
          </a:p>
          <a:p>
            <a:pPr>
              <a:spcAft>
                <a:spcPts val="1200"/>
              </a:spcAft>
              <a:defRPr sz="2000"/>
            </a:pPr>
            <a:r>
              <a:t>MigrationRun: source, validation, duplicate, rejection and import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5. RFID &amp; Interoperability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RFIDReaderAdapter resolves a tag to the associated item.</a:t>
            </a:r>
          </a:p>
          <a:p>
            <a:pPr>
              <a:spcAft>
                <a:spcPts val="1200"/>
              </a:spcAft>
              <a:defRPr sz="2000"/>
            </a:pPr>
            <a:r>
              <a:t>GateAdapter emits an unauthorized-removal event with accession and mock CCTV reference.</a:t>
            </a:r>
          </a:p>
          <a:p>
            <a:pPr>
              <a:spcAft>
                <a:spcPts val="1200"/>
              </a:spcAft>
              <a:defRPr sz="2000"/>
            </a:pPr>
            <a:r>
              <a:t>SmartCardAdapter demonstrates staff authentication and role mapping.</a:t>
            </a:r>
          </a:p>
          <a:p>
            <a:pPr>
              <a:spcAft>
                <a:spcPts val="1200"/>
              </a:spcAft>
              <a:defRPr sz="2000"/>
            </a:pPr>
            <a:r>
              <a:t>NCIPMockAdapter represents the protocol boundary for checkout, check-in and renewal.</a:t>
            </a:r>
          </a:p>
          <a:p>
            <a:pPr>
              <a:spcAft>
                <a:spcPts val="1200"/>
              </a:spcAft>
              <a:defRPr sz="2000"/>
            </a:pPr>
            <a:r>
              <a:t>Production vendor SDKs can replace mocks without changing application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6. Acceptance Scenarios AC01–AC05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AC01: spreadsheet import → validate → reject invalid rows → detect duplicates → reconcile.</a:t>
            </a:r>
          </a:p>
          <a:p>
            <a:pPr>
              <a:spcAft>
                <a:spcPts val="1200"/>
              </a:spcAft>
              <a:defRPr sz="2000"/>
            </a:pPr>
            <a:r>
              <a:t>AC02: locate/validate item → associate mock RFID tag.</a:t>
            </a:r>
          </a:p>
          <a:p>
            <a:pPr>
              <a:spcAft>
                <a:spcPts val="1200"/>
              </a:spcAft>
              <a:defRPr sz="2000"/>
            </a:pPr>
            <a:r>
              <a:t>AC03: checkout, renew and check-in → auditable history.</a:t>
            </a:r>
          </a:p>
          <a:p>
            <a:pPr>
              <a:spcAft>
                <a:spcPts val="1200"/>
              </a:spcAft>
              <a:defRPr sz="2000"/>
            </a:pPr>
            <a:r>
              <a:t>AC04: reference item / blocked member / excessive fine → circulation blocked.</a:t>
            </a:r>
          </a:p>
          <a:p>
            <a:pPr>
              <a:spcAft>
                <a:spcPts val="1200"/>
              </a:spcAft>
              <a:defRPr sz="2000"/>
            </a:pPr>
            <a:r>
              <a:t>AC05: handheld reader model → inventory events and missing/misplaced comparison.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7. Acceptance Scenarios AC06–AC10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AC06: gate event → accession number → mock CCTV → queued notification.</a:t>
            </a:r>
          </a:p>
          <a:p>
            <a:pPr>
              <a:spcAft>
                <a:spcPts val="1200"/>
              </a:spcAft>
              <a:defRPr sz="2000"/>
            </a:pPr>
            <a:r>
              <a:t>AC07: smart-card mock login → role-based permissions.</a:t>
            </a:r>
          </a:p>
          <a:p>
            <a:pPr>
              <a:spcAft>
                <a:spcPts val="1200"/>
              </a:spcAft>
              <a:defRPr sz="2000"/>
            </a:pPr>
            <a:r>
              <a:t>AC08: dashboard and filterable operational reports.</a:t>
            </a:r>
          </a:p>
          <a:p>
            <a:pPr>
              <a:spcAft>
                <a:spcPts val="1200"/>
              </a:spcAft>
              <a:defRPr sz="2000"/>
            </a:pPr>
            <a:r>
              <a:t>AC09: offline installation/update/rollback runbook.</a:t>
            </a:r>
          </a:p>
          <a:p>
            <a:pPr>
              <a:spcAft>
                <a:spcPts val="1200"/>
              </a:spcAft>
              <a:defRPr sz="2000"/>
            </a:pPr>
            <a:r>
              <a:t>AC10: backup → simulated failure → restore → prove original data intact.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8. Migration &amp; 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Imports are performed inside a database transaction.</a:t>
            </a:r>
          </a:p>
          <a:p>
            <a:pPr>
              <a:spcAft>
                <a:spcPts val="1200"/>
              </a:spcAft>
              <a:defRPr sz="2000"/>
            </a:pPr>
            <a:r>
              <a:t>Required fields are validated before insertion.</a:t>
            </a:r>
          </a:p>
          <a:p>
            <a:pPr>
              <a:spcAft>
                <a:spcPts val="1200"/>
              </a:spcAft>
              <a:defRPr sz="2000"/>
            </a:pPr>
            <a:r>
              <a:t>Existing accession numbers and duplicate spreadsheet rows are rejected.</a:t>
            </a:r>
          </a:p>
          <a:p>
            <a:pPr>
              <a:spcAft>
                <a:spcPts val="1200"/>
              </a:spcAft>
              <a:defRPr sz="2000"/>
            </a:pPr>
            <a:r>
              <a:t>MigrationRun stores source/valid/duplicate/rejected/imported counts and error details.</a:t>
            </a:r>
          </a:p>
          <a:p>
            <a:pPr>
              <a:spcAft>
                <a:spcPts val="1200"/>
              </a:spcAft>
              <a:defRPr sz="2000"/>
            </a:pPr>
            <a:r>
              <a:t>Production integration must begin only after a verified database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9. Security &amp; Engineering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Django authentication and CSRF protection.</a:t>
            </a:r>
          </a:p>
          <a:p>
            <a:pPr>
              <a:spcAft>
                <a:spcPts val="1200"/>
              </a:spcAft>
              <a:defRPr sz="2000"/>
            </a:pPr>
            <a:r>
              <a:t>Audit logging for administrative and circulation actions.</a:t>
            </a:r>
          </a:p>
          <a:p>
            <a:pPr>
              <a:spcAft>
                <a:spcPts val="1200"/>
              </a:spcAft>
              <a:defRPr sz="2000"/>
            </a:pPr>
            <a:r>
              <a:t>Secrets/configuration kept outside source code.</a:t>
            </a:r>
          </a:p>
          <a:p>
            <a:pPr>
              <a:spcAft>
                <a:spcPts val="1200"/>
              </a:spcAft>
              <a:defRPr sz="2000"/>
            </a:pPr>
            <a:r>
              <a:t>Synthetic data only; no production credentials or personal data.</a:t>
            </a:r>
          </a:p>
          <a:p>
            <a:pPr>
              <a:spcAft>
                <a:spcPts val="1200"/>
              </a:spcAft>
              <a:defRPr sz="2000"/>
            </a:pPr>
            <a:r>
              <a:t>Pinned dependencies, migrations, tests and documented rollback.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10. Testing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Automated tests cover RFID lookup, checkout and gate events.</a:t>
            </a:r>
          </a:p>
          <a:p>
            <a:pPr>
              <a:spcAft>
                <a:spcPts val="1200"/>
              </a:spcAft>
              <a:defRPr sz="2000"/>
            </a:pPr>
            <a:r>
              <a:t>Manual acceptance test plan maps directly to AISYS acceptance scenarios.</a:t>
            </a:r>
          </a:p>
          <a:p>
            <a:pPr>
              <a:spcAft>
                <a:spcPts val="1200"/>
              </a:spcAft>
              <a:defRPr sz="2000"/>
            </a:pPr>
            <a:r>
              <a:t>Health endpoint verifies database connectivity and service state.</a:t>
            </a:r>
          </a:p>
          <a:p>
            <a:pPr>
              <a:spcAft>
                <a:spcPts val="1200"/>
              </a:spcAft>
              <a:defRPr sz="2000"/>
            </a:pPr>
            <a:r>
              <a:t>Demo evidence should show baseline counts, actions, resulting records and audit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11.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Windows-first setup with Python virtual environment.</a:t>
            </a:r>
          </a:p>
          <a:p>
            <a:pPr>
              <a:spcAft>
                <a:spcPts val="1200"/>
              </a:spcAft>
              <a:defRPr sz="2000"/>
            </a:pPr>
            <a:r>
              <a:t>SQLite provides a zero-configuration demonstration path.</a:t>
            </a:r>
          </a:p>
          <a:p>
            <a:pPr>
              <a:spcAft>
                <a:spcPts val="1200"/>
              </a:spcAft>
              <a:defRPr sz="2000"/>
            </a:pPr>
            <a:r>
              <a:t>MySQL is supported through environment configuration and PyMySQL.</a:t>
            </a:r>
          </a:p>
          <a:p>
            <a:pPr>
              <a:spcAft>
                <a:spcPts val="1200"/>
              </a:spcAft>
              <a:defRPr sz="2000"/>
            </a:pPr>
            <a:r>
              <a:t>Offline update and rollback runbooks are included.</a:t>
            </a:r>
          </a:p>
          <a:p>
            <a:pPr>
              <a:spcAft>
                <a:spcPts val="1200"/>
              </a:spcAft>
              <a:defRPr sz="2000"/>
            </a:pPr>
            <a:r>
              <a:t>Production deployment requires signed packages, approved backups, vendor testing and institutional UAT.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12. Production Readiness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Connect approved RFID hardware SDKs.</a:t>
            </a:r>
          </a:p>
          <a:p>
            <a:pPr>
              <a:spcAft>
                <a:spcPts val="1200"/>
              </a:spcAft>
              <a:defRPr sz="2000"/>
            </a:pPr>
            <a:r>
              <a:t>Implement and validate real NCIP/SIP2 interoperability.</a:t>
            </a:r>
          </a:p>
          <a:p>
            <a:pPr>
              <a:spcAft>
                <a:spcPts val="1200"/>
              </a:spcAft>
              <a:defRPr sz="2000"/>
            </a:pPr>
            <a:r>
              <a:t>Integrate approved email/SMS/CCTV providers.</a:t>
            </a:r>
          </a:p>
          <a:p>
            <a:pPr>
              <a:spcAft>
                <a:spcPts val="1200"/>
              </a:spcAft>
              <a:defRPr sz="2000"/>
            </a:pPr>
            <a:r>
              <a:t>Benchmark search and migration with real-scale datasets.</a:t>
            </a:r>
          </a:p>
          <a:p>
            <a:pPr>
              <a:spcAft>
                <a:spcPts val="1200"/>
              </a:spcAft>
              <a:defRPr sz="2000"/>
            </a:pPr>
            <a:r>
              <a:t>Complete security testing, performance testing, UAT and deployment approval.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13.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Login → dashboard</a:t>
            </a:r>
          </a:p>
          <a:p>
            <a:pPr>
              <a:spcAft>
                <a:spcPts val="1200"/>
              </a:spcAft>
              <a:defRPr sz="2000"/>
            </a:pPr>
            <a:r>
              <a:t>AC01 migration → show reconciliation</a:t>
            </a:r>
          </a:p>
          <a:p>
            <a:pPr>
              <a:spcAft>
                <a:spcPts val="1200"/>
              </a:spcAft>
              <a:defRPr sz="2000"/>
            </a:pPr>
            <a:r>
              <a:t>AC02 RFID tag → item relationship</a:t>
            </a:r>
          </a:p>
          <a:p>
            <a:pPr>
              <a:spcAft>
                <a:spcPts val="1200"/>
              </a:spcAft>
              <a:defRPr sz="2000"/>
            </a:pPr>
            <a:r>
              <a:t>AC03/04 circulation → restrictions + audit</a:t>
            </a:r>
          </a:p>
          <a:p>
            <a:pPr>
              <a:spcAft>
                <a:spcPts val="1200"/>
              </a:spcAft>
              <a:defRPr sz="2000"/>
            </a:pPr>
            <a:r>
              <a:t>AC06/07 gate + smart-card mocks</a:t>
            </a:r>
          </a:p>
          <a:p>
            <a:pPr>
              <a:spcAft>
                <a:spcPts val="1200"/>
              </a:spcAft>
              <a:defRPr sz="2000"/>
            </a:pPr>
            <a:r>
              <a:t>AC08 reports</a:t>
            </a:r>
          </a:p>
          <a:p>
            <a:pPr>
              <a:spcAft>
                <a:spcPts val="1200"/>
              </a:spcAft>
              <a:defRPr sz="2000"/>
            </a:pPr>
            <a:r>
              <a:t>Explain AC09/10 offline + restore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4A7C"/>
                </a:solidFill>
              </a:defRPr>
            </a:pPr>
            <a:r>
              <a:t>14.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prototype demonstrates the required boundaries rather than hiding unavailable dependencies.</a:t>
            </a:r>
          </a:p>
          <a:p>
            <a:pPr>
              <a:spcAft>
                <a:spcPts val="1200"/>
              </a:spcAft>
              <a:defRPr sz="2000"/>
            </a:pPr>
            <a:r>
              <a:t>Its central design principle is safe integration: adapters, transactions, auditability, backups and rollback.</a:t>
            </a:r>
          </a:p>
          <a:p>
            <a:pPr>
              <a:spcAft>
                <a:spcPts val="1200"/>
              </a:spcAft>
              <a:defRPr sz="2000"/>
            </a:pPr>
            <a:r>
              <a:t>The same boundaries allow vendor-specific production components to be introduced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